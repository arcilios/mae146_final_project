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30175200" cy="1554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1F4E79"/>
    <a:srgbClr val="F28C28"/>
    <a:srgbClr val="102A43"/>
    <a:srgbClr val="E6E6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60"/>
  </p:normalViewPr>
  <p:slideViewPr>
    <p:cSldViewPr snapToGrid="0">
      <p:cViewPr>
        <p:scale>
          <a:sx n="33" d="100"/>
          <a:sy n="33" d="100"/>
        </p:scale>
        <p:origin x="522" y="1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1900" y="2544023"/>
            <a:ext cx="22631400" cy="5411893"/>
          </a:xfrm>
        </p:spPr>
        <p:txBody>
          <a:bodyPr anchor="b"/>
          <a:lstStyle>
            <a:lvl1pPr algn="ctr">
              <a:defRPr sz="1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1900" y="8164619"/>
            <a:ext cx="22631400" cy="3753061"/>
          </a:xfrm>
        </p:spPr>
        <p:txBody>
          <a:bodyPr/>
          <a:lstStyle>
            <a:lvl1pPr marL="0" indent="0" algn="ctr">
              <a:buNone/>
              <a:defRPr sz="5440"/>
            </a:lvl1pPr>
            <a:lvl2pPr marL="1036335" indent="0" algn="ctr">
              <a:buNone/>
              <a:defRPr sz="4533"/>
            </a:lvl2pPr>
            <a:lvl3pPr marL="2072670" indent="0" algn="ctr">
              <a:buNone/>
              <a:defRPr sz="4080"/>
            </a:lvl3pPr>
            <a:lvl4pPr marL="3109006" indent="0" algn="ctr">
              <a:buNone/>
              <a:defRPr sz="3627"/>
            </a:lvl4pPr>
            <a:lvl5pPr marL="4145341" indent="0" algn="ctr">
              <a:buNone/>
              <a:defRPr sz="3627"/>
            </a:lvl5pPr>
            <a:lvl6pPr marL="5181676" indent="0" algn="ctr">
              <a:buNone/>
              <a:defRPr sz="3627"/>
            </a:lvl6pPr>
            <a:lvl7pPr marL="6218011" indent="0" algn="ctr">
              <a:buNone/>
              <a:defRPr sz="3627"/>
            </a:lvl7pPr>
            <a:lvl8pPr marL="7254347" indent="0" algn="ctr">
              <a:buNone/>
              <a:defRPr sz="3627"/>
            </a:lvl8pPr>
            <a:lvl9pPr marL="8290682" indent="0" algn="ctr">
              <a:buNone/>
              <a:defRPr sz="362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8A390-A36B-4DDD-9F12-392A11608AB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EC2F-3EF4-4E64-B110-728BA9B1E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01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8A390-A36B-4DDD-9F12-392A11608AB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EC2F-3EF4-4E64-B110-728BA9B1E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41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8829" y="3875407"/>
            <a:ext cx="26026110" cy="6466204"/>
          </a:xfrm>
        </p:spPr>
        <p:txBody>
          <a:bodyPr anchor="b"/>
          <a:lstStyle>
            <a:lvl1pPr>
              <a:defRPr sz="1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8829" y="10402784"/>
            <a:ext cx="26026110" cy="3400424"/>
          </a:xfrm>
        </p:spPr>
        <p:txBody>
          <a:bodyPr/>
          <a:lstStyle>
            <a:lvl1pPr marL="0" indent="0">
              <a:buNone/>
              <a:defRPr sz="5440">
                <a:solidFill>
                  <a:schemeClr val="tx1">
                    <a:tint val="75000"/>
                  </a:schemeClr>
                </a:solidFill>
              </a:defRPr>
            </a:lvl1pPr>
            <a:lvl2pPr marL="1036335" indent="0">
              <a:buNone/>
              <a:defRPr sz="4533">
                <a:solidFill>
                  <a:schemeClr val="tx1">
                    <a:tint val="75000"/>
                  </a:schemeClr>
                </a:solidFill>
              </a:defRPr>
            </a:lvl2pPr>
            <a:lvl3pPr marL="2072670" indent="0">
              <a:buNone/>
              <a:defRPr sz="4080">
                <a:solidFill>
                  <a:schemeClr val="tx1">
                    <a:tint val="75000"/>
                  </a:schemeClr>
                </a:solidFill>
              </a:defRPr>
            </a:lvl3pPr>
            <a:lvl4pPr marL="3109006" indent="0">
              <a:buNone/>
              <a:defRPr sz="3627">
                <a:solidFill>
                  <a:schemeClr val="tx1">
                    <a:tint val="75000"/>
                  </a:schemeClr>
                </a:solidFill>
              </a:defRPr>
            </a:lvl4pPr>
            <a:lvl5pPr marL="4145341" indent="0">
              <a:buNone/>
              <a:defRPr sz="3627">
                <a:solidFill>
                  <a:schemeClr val="tx1">
                    <a:tint val="75000"/>
                  </a:schemeClr>
                </a:solidFill>
              </a:defRPr>
            </a:lvl5pPr>
            <a:lvl6pPr marL="5181676" indent="0">
              <a:buNone/>
              <a:defRPr sz="3627">
                <a:solidFill>
                  <a:schemeClr val="tx1">
                    <a:tint val="75000"/>
                  </a:schemeClr>
                </a:solidFill>
              </a:defRPr>
            </a:lvl6pPr>
            <a:lvl7pPr marL="6218011" indent="0">
              <a:buNone/>
              <a:defRPr sz="3627">
                <a:solidFill>
                  <a:schemeClr val="tx1">
                    <a:tint val="75000"/>
                  </a:schemeClr>
                </a:solidFill>
              </a:defRPr>
            </a:lvl7pPr>
            <a:lvl8pPr marL="7254347" indent="0">
              <a:buNone/>
              <a:defRPr sz="3627">
                <a:solidFill>
                  <a:schemeClr val="tx1">
                    <a:tint val="75000"/>
                  </a:schemeClr>
                </a:solidFill>
              </a:defRPr>
            </a:lvl8pPr>
            <a:lvl9pPr marL="8290682" indent="0">
              <a:buNone/>
              <a:defRPr sz="36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8A390-A36B-4DDD-9F12-392A11608AB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EC2F-3EF4-4E64-B110-728BA9B1E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38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4545" y="4138083"/>
            <a:ext cx="12824460" cy="98630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6195" y="4138083"/>
            <a:ext cx="12824460" cy="98630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8A390-A36B-4DDD-9F12-392A11608AB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EC2F-3EF4-4E64-B110-728BA9B1E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792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475" y="827618"/>
            <a:ext cx="26026110" cy="300460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8476" y="3810636"/>
            <a:ext cx="12765523" cy="1867534"/>
          </a:xfrm>
        </p:spPr>
        <p:txBody>
          <a:bodyPr anchor="b"/>
          <a:lstStyle>
            <a:lvl1pPr marL="0" indent="0">
              <a:buNone/>
              <a:defRPr sz="5440" b="1"/>
            </a:lvl1pPr>
            <a:lvl2pPr marL="1036335" indent="0">
              <a:buNone/>
              <a:defRPr sz="4533" b="1"/>
            </a:lvl2pPr>
            <a:lvl3pPr marL="2072670" indent="0">
              <a:buNone/>
              <a:defRPr sz="4080" b="1"/>
            </a:lvl3pPr>
            <a:lvl4pPr marL="3109006" indent="0">
              <a:buNone/>
              <a:defRPr sz="3627" b="1"/>
            </a:lvl4pPr>
            <a:lvl5pPr marL="4145341" indent="0">
              <a:buNone/>
              <a:defRPr sz="3627" b="1"/>
            </a:lvl5pPr>
            <a:lvl6pPr marL="5181676" indent="0">
              <a:buNone/>
              <a:defRPr sz="3627" b="1"/>
            </a:lvl6pPr>
            <a:lvl7pPr marL="6218011" indent="0">
              <a:buNone/>
              <a:defRPr sz="3627" b="1"/>
            </a:lvl7pPr>
            <a:lvl8pPr marL="7254347" indent="0">
              <a:buNone/>
              <a:defRPr sz="3627" b="1"/>
            </a:lvl8pPr>
            <a:lvl9pPr marL="8290682" indent="0">
              <a:buNone/>
              <a:defRPr sz="362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78476" y="5678170"/>
            <a:ext cx="12765523" cy="83517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276195" y="3810636"/>
            <a:ext cx="12828390" cy="1867534"/>
          </a:xfrm>
        </p:spPr>
        <p:txBody>
          <a:bodyPr anchor="b"/>
          <a:lstStyle>
            <a:lvl1pPr marL="0" indent="0">
              <a:buNone/>
              <a:defRPr sz="5440" b="1"/>
            </a:lvl1pPr>
            <a:lvl2pPr marL="1036335" indent="0">
              <a:buNone/>
              <a:defRPr sz="4533" b="1"/>
            </a:lvl2pPr>
            <a:lvl3pPr marL="2072670" indent="0">
              <a:buNone/>
              <a:defRPr sz="4080" b="1"/>
            </a:lvl3pPr>
            <a:lvl4pPr marL="3109006" indent="0">
              <a:buNone/>
              <a:defRPr sz="3627" b="1"/>
            </a:lvl4pPr>
            <a:lvl5pPr marL="4145341" indent="0">
              <a:buNone/>
              <a:defRPr sz="3627" b="1"/>
            </a:lvl5pPr>
            <a:lvl6pPr marL="5181676" indent="0">
              <a:buNone/>
              <a:defRPr sz="3627" b="1"/>
            </a:lvl6pPr>
            <a:lvl7pPr marL="6218011" indent="0">
              <a:buNone/>
              <a:defRPr sz="3627" b="1"/>
            </a:lvl7pPr>
            <a:lvl8pPr marL="7254347" indent="0">
              <a:buNone/>
              <a:defRPr sz="3627" b="1"/>
            </a:lvl8pPr>
            <a:lvl9pPr marL="8290682" indent="0">
              <a:buNone/>
              <a:defRPr sz="362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276195" y="5678170"/>
            <a:ext cx="12828390" cy="83517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8A390-A36B-4DDD-9F12-392A11608AB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EC2F-3EF4-4E64-B110-728BA9B1E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55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8A390-A36B-4DDD-9F12-392A11608AB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EC2F-3EF4-4E64-B110-728BA9B1E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415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8A390-A36B-4DDD-9F12-392A11608AB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EC2F-3EF4-4E64-B110-728BA9B1E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492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476" y="1036320"/>
            <a:ext cx="9732287" cy="3627120"/>
          </a:xfrm>
        </p:spPr>
        <p:txBody>
          <a:bodyPr anchor="b"/>
          <a:lstStyle>
            <a:lvl1pPr>
              <a:defRPr sz="725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8390" y="2238165"/>
            <a:ext cx="15276195" cy="11046883"/>
          </a:xfrm>
        </p:spPr>
        <p:txBody>
          <a:bodyPr/>
          <a:lstStyle>
            <a:lvl1pPr>
              <a:defRPr sz="7253"/>
            </a:lvl1pPr>
            <a:lvl2pPr>
              <a:defRPr sz="6347"/>
            </a:lvl2pPr>
            <a:lvl3pPr>
              <a:defRPr sz="5440"/>
            </a:lvl3pPr>
            <a:lvl4pPr>
              <a:defRPr sz="4533"/>
            </a:lvl4pPr>
            <a:lvl5pPr>
              <a:defRPr sz="4533"/>
            </a:lvl5pPr>
            <a:lvl6pPr>
              <a:defRPr sz="4533"/>
            </a:lvl6pPr>
            <a:lvl7pPr>
              <a:defRPr sz="4533"/>
            </a:lvl7pPr>
            <a:lvl8pPr>
              <a:defRPr sz="4533"/>
            </a:lvl8pPr>
            <a:lvl9pPr>
              <a:defRPr sz="45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476" y="4663440"/>
            <a:ext cx="9732287" cy="8639599"/>
          </a:xfrm>
        </p:spPr>
        <p:txBody>
          <a:bodyPr/>
          <a:lstStyle>
            <a:lvl1pPr marL="0" indent="0">
              <a:buNone/>
              <a:defRPr sz="3627"/>
            </a:lvl1pPr>
            <a:lvl2pPr marL="1036335" indent="0">
              <a:buNone/>
              <a:defRPr sz="3173"/>
            </a:lvl2pPr>
            <a:lvl3pPr marL="2072670" indent="0">
              <a:buNone/>
              <a:defRPr sz="2720"/>
            </a:lvl3pPr>
            <a:lvl4pPr marL="3109006" indent="0">
              <a:buNone/>
              <a:defRPr sz="2267"/>
            </a:lvl4pPr>
            <a:lvl5pPr marL="4145341" indent="0">
              <a:buNone/>
              <a:defRPr sz="2267"/>
            </a:lvl5pPr>
            <a:lvl6pPr marL="5181676" indent="0">
              <a:buNone/>
              <a:defRPr sz="2267"/>
            </a:lvl6pPr>
            <a:lvl7pPr marL="6218011" indent="0">
              <a:buNone/>
              <a:defRPr sz="2267"/>
            </a:lvl7pPr>
            <a:lvl8pPr marL="7254347" indent="0">
              <a:buNone/>
              <a:defRPr sz="2267"/>
            </a:lvl8pPr>
            <a:lvl9pPr marL="8290682" indent="0">
              <a:buNone/>
              <a:defRPr sz="22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8A390-A36B-4DDD-9F12-392A11608AB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EC2F-3EF4-4E64-B110-728BA9B1E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91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476" y="1036320"/>
            <a:ext cx="9732287" cy="3627120"/>
          </a:xfrm>
        </p:spPr>
        <p:txBody>
          <a:bodyPr anchor="b"/>
          <a:lstStyle>
            <a:lvl1pPr>
              <a:defRPr sz="725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28390" y="2238165"/>
            <a:ext cx="15276195" cy="11046883"/>
          </a:xfrm>
        </p:spPr>
        <p:txBody>
          <a:bodyPr anchor="t"/>
          <a:lstStyle>
            <a:lvl1pPr marL="0" indent="0">
              <a:buNone/>
              <a:defRPr sz="7253"/>
            </a:lvl1pPr>
            <a:lvl2pPr marL="1036335" indent="0">
              <a:buNone/>
              <a:defRPr sz="6347"/>
            </a:lvl2pPr>
            <a:lvl3pPr marL="2072670" indent="0">
              <a:buNone/>
              <a:defRPr sz="5440"/>
            </a:lvl3pPr>
            <a:lvl4pPr marL="3109006" indent="0">
              <a:buNone/>
              <a:defRPr sz="4533"/>
            </a:lvl4pPr>
            <a:lvl5pPr marL="4145341" indent="0">
              <a:buNone/>
              <a:defRPr sz="4533"/>
            </a:lvl5pPr>
            <a:lvl6pPr marL="5181676" indent="0">
              <a:buNone/>
              <a:defRPr sz="4533"/>
            </a:lvl6pPr>
            <a:lvl7pPr marL="6218011" indent="0">
              <a:buNone/>
              <a:defRPr sz="4533"/>
            </a:lvl7pPr>
            <a:lvl8pPr marL="7254347" indent="0">
              <a:buNone/>
              <a:defRPr sz="4533"/>
            </a:lvl8pPr>
            <a:lvl9pPr marL="8290682" indent="0">
              <a:buNone/>
              <a:defRPr sz="453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476" y="4663440"/>
            <a:ext cx="9732287" cy="8639599"/>
          </a:xfrm>
        </p:spPr>
        <p:txBody>
          <a:bodyPr/>
          <a:lstStyle>
            <a:lvl1pPr marL="0" indent="0">
              <a:buNone/>
              <a:defRPr sz="3627"/>
            </a:lvl1pPr>
            <a:lvl2pPr marL="1036335" indent="0">
              <a:buNone/>
              <a:defRPr sz="3173"/>
            </a:lvl2pPr>
            <a:lvl3pPr marL="2072670" indent="0">
              <a:buNone/>
              <a:defRPr sz="2720"/>
            </a:lvl3pPr>
            <a:lvl4pPr marL="3109006" indent="0">
              <a:buNone/>
              <a:defRPr sz="2267"/>
            </a:lvl4pPr>
            <a:lvl5pPr marL="4145341" indent="0">
              <a:buNone/>
              <a:defRPr sz="2267"/>
            </a:lvl5pPr>
            <a:lvl6pPr marL="5181676" indent="0">
              <a:buNone/>
              <a:defRPr sz="2267"/>
            </a:lvl6pPr>
            <a:lvl7pPr marL="6218011" indent="0">
              <a:buNone/>
              <a:defRPr sz="2267"/>
            </a:lvl7pPr>
            <a:lvl8pPr marL="7254347" indent="0">
              <a:buNone/>
              <a:defRPr sz="2267"/>
            </a:lvl8pPr>
            <a:lvl9pPr marL="8290682" indent="0">
              <a:buNone/>
              <a:defRPr sz="22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8A390-A36B-4DDD-9F12-392A11608AB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EC2F-3EF4-4E64-B110-728BA9B1E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001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8A390-A36B-4DDD-9F12-392A11608AB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EC2F-3EF4-4E64-B110-728BA9B1E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629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94127" y="827617"/>
            <a:ext cx="6506528" cy="131734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4545" y="827617"/>
            <a:ext cx="19142393" cy="131734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8A390-A36B-4DDD-9F12-392A11608AB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EC2F-3EF4-4E64-B110-728BA9B1E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904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4545" y="827618"/>
            <a:ext cx="26026110" cy="3004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4545" y="4138083"/>
            <a:ext cx="26026110" cy="9863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4545" y="14407728"/>
            <a:ext cx="678942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8A390-A36B-4DDD-9F12-392A11608AB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95535" y="14407728"/>
            <a:ext cx="1018413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11235" y="14407728"/>
            <a:ext cx="678942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AEC2F-3EF4-4E64-B110-728BA9B1E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87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072670" rtl="0" eaLnBrk="1" latinLnBrk="0" hangingPunct="1">
        <a:lnSpc>
          <a:spcPct val="90000"/>
        </a:lnSpc>
        <a:spcBef>
          <a:spcPct val="0"/>
        </a:spcBef>
        <a:buNone/>
        <a:defRPr sz="99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8168" indent="-518168" algn="l" defTabSz="2072670" rtl="0" eaLnBrk="1" latinLnBrk="0" hangingPunct="1">
        <a:lnSpc>
          <a:spcPct val="90000"/>
        </a:lnSpc>
        <a:spcBef>
          <a:spcPts val="2267"/>
        </a:spcBef>
        <a:buFont typeface="Arial" panose="020B0604020202020204" pitchFamily="34" charset="0"/>
        <a:buChar char="•"/>
        <a:defRPr sz="6347" kern="1200">
          <a:solidFill>
            <a:schemeClr val="tx1"/>
          </a:solidFill>
          <a:latin typeface="+mn-lt"/>
          <a:ea typeface="+mn-ea"/>
          <a:cs typeface="+mn-cs"/>
        </a:defRPr>
      </a:lvl1pPr>
      <a:lvl2pPr marL="1554503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5440" kern="1200">
          <a:solidFill>
            <a:schemeClr val="tx1"/>
          </a:solidFill>
          <a:latin typeface="+mn-lt"/>
          <a:ea typeface="+mn-ea"/>
          <a:cs typeface="+mn-cs"/>
        </a:defRPr>
      </a:lvl2pPr>
      <a:lvl3pPr marL="2590838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533" kern="1200">
          <a:solidFill>
            <a:schemeClr val="tx1"/>
          </a:solidFill>
          <a:latin typeface="+mn-lt"/>
          <a:ea typeface="+mn-ea"/>
          <a:cs typeface="+mn-cs"/>
        </a:defRPr>
      </a:lvl3pPr>
      <a:lvl4pPr marL="3627173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4pPr>
      <a:lvl5pPr marL="4663509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5pPr>
      <a:lvl6pPr marL="5699844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6pPr>
      <a:lvl7pPr marL="6736179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7pPr>
      <a:lvl8pPr marL="7772514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8pPr>
      <a:lvl9pPr marL="8808850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1pPr>
      <a:lvl2pPr marL="1036335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2pPr>
      <a:lvl3pPr marL="2072670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3pPr>
      <a:lvl4pPr marL="3109006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4pPr>
      <a:lvl5pPr marL="4145341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5pPr>
      <a:lvl6pPr marL="5181676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6pPr>
      <a:lvl7pPr marL="6218011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7pPr>
      <a:lvl8pPr marL="7254347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8pPr>
      <a:lvl9pPr marL="8290682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52E7264-709A-2E0E-CB35-FCE85AE449AD}"/>
              </a:ext>
            </a:extLst>
          </p:cNvPr>
          <p:cNvSpPr txBox="1"/>
          <p:nvPr/>
        </p:nvSpPr>
        <p:spPr>
          <a:xfrm>
            <a:off x="0" y="211550"/>
            <a:ext cx="301752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Predicting California Housing Values with Ridge Regression and </a:t>
            </a:r>
            <a:r>
              <a:rPr lang="en-US" altLang="zh-CN" sz="4800" b="1" dirty="0" err="1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en-US" altLang="zh-CN" sz="48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Neural Networks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F877DFC-7841-1F70-3C32-E4CE61CCDD77}"/>
              </a:ext>
            </a:extLst>
          </p:cNvPr>
          <p:cNvCxnSpPr/>
          <p:nvPr/>
        </p:nvCxnSpPr>
        <p:spPr>
          <a:xfrm>
            <a:off x="0" y="2251672"/>
            <a:ext cx="301752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43522A9-A803-BDAC-5CEA-2102DBFBC57B}"/>
              </a:ext>
            </a:extLst>
          </p:cNvPr>
          <p:cNvSpPr txBox="1"/>
          <p:nvPr/>
        </p:nvSpPr>
        <p:spPr>
          <a:xfrm>
            <a:off x="4964874" y="1073065"/>
            <a:ext cx="20245452" cy="10772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Question: Can a </a:t>
            </a:r>
            <a:r>
              <a:rPr lang="en-US" altLang="zh-CN" sz="3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en-US" altLang="zh-CN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neural network improve California median house value prediction compared with Ridge Regression, and how important are geographic features such as latitude and longitude for predictive performance?</a:t>
            </a:r>
            <a:endParaRPr lang="zh-CN" altLang="en-US" sz="3200" i="1" dirty="0">
              <a:latin typeface="Calibri" panose="020F0502020204030204" pitchFamily="34" charset="0"/>
              <a:ea typeface="Arial Unicode MS" panose="020B060402020202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B628F52-A390-AC00-D0ED-4239EDD512C8}"/>
              </a:ext>
            </a:extLst>
          </p:cNvPr>
          <p:cNvGrpSpPr/>
          <p:nvPr/>
        </p:nvGrpSpPr>
        <p:grpSpPr>
          <a:xfrm>
            <a:off x="265670" y="2454451"/>
            <a:ext cx="10395561" cy="13041939"/>
            <a:chOff x="569058" y="2456365"/>
            <a:chExt cx="10395561" cy="13041939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20C2920-7012-C7A8-029E-8B2FA91F9A5D}"/>
                </a:ext>
              </a:extLst>
            </p:cNvPr>
            <p:cNvSpPr txBox="1"/>
            <p:nvPr/>
          </p:nvSpPr>
          <p:spPr>
            <a:xfrm>
              <a:off x="1006708" y="5832715"/>
              <a:ext cx="9957911" cy="34778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rgbClr val="1F4E7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Machine Learning Methods</a:t>
              </a:r>
            </a:p>
            <a:p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Ridge Regression baseline</a:t>
              </a:r>
            </a:p>
            <a:p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Two-layer </a:t>
              </a:r>
              <a:r>
                <a:rPr lang="en-US" altLang="zh-CN" sz="36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PyTorch</a:t>
              </a:r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neural network</a:t>
              </a:r>
            </a:p>
            <a:p>
              <a:endPara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Both models trained with and without latitude/longitude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B4F4D87-0E4E-81DE-2989-7E6A14783D2A}"/>
                </a:ext>
              </a:extLst>
            </p:cNvPr>
            <p:cNvSpPr txBox="1"/>
            <p:nvPr/>
          </p:nvSpPr>
          <p:spPr>
            <a:xfrm>
              <a:off x="569058" y="2456365"/>
              <a:ext cx="9957911" cy="40318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rgbClr val="1F4E7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Dataset</a:t>
              </a:r>
              <a:r>
                <a:rPr lang="zh-CN" altLang="en-US" sz="4000" dirty="0">
                  <a:solidFill>
                    <a:srgbClr val="1F4E79"/>
                  </a:solidFill>
                  <a:latin typeface="Calibri" panose="020F0502020204030204" pitchFamily="34" charset="0"/>
                  <a:ea typeface="Arial Unicode MS" panose="020B0604020202020204" pitchFamily="34" charset="-122"/>
                  <a:cs typeface="Calibri" panose="020F0502020204030204" pitchFamily="34" charset="0"/>
                </a:rPr>
                <a:t> </a:t>
              </a:r>
              <a:endParaRPr lang="en-US" altLang="zh-CN" sz="4000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California Housing Dataset from scikit-learn</a:t>
              </a:r>
              <a:b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20,640 census block groups</a:t>
              </a:r>
              <a:b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8 features: income, house age, rooms, bedrooms, population, occupancy, latitude, longitude</a:t>
              </a:r>
              <a:b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Target: median house value in $100,000 units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endParaRPr lang="zh-CN" altLang="en-US" sz="3600" dirty="0">
                <a:latin typeface="Calibri" panose="020F0502020204030204" pitchFamily="34" charset="0"/>
                <a:ea typeface="Arial Unicode MS" panose="020B0604020202020204" pitchFamily="34" charset="-122"/>
                <a:cs typeface="Calibri" panose="020F0502020204030204" pitchFamily="34" charset="0"/>
              </a:endParaRPr>
            </a:p>
          </p:txBody>
        </p: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56CC254E-BB6B-5C0D-AB35-E935636C2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6973" y="9310590"/>
              <a:ext cx="7411658" cy="6187714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D7D62556-A41E-50C3-69F9-F15E9ABF7428}"/>
              </a:ext>
            </a:extLst>
          </p:cNvPr>
          <p:cNvGrpSpPr/>
          <p:nvPr/>
        </p:nvGrpSpPr>
        <p:grpSpPr>
          <a:xfrm>
            <a:off x="10148773" y="2420848"/>
            <a:ext cx="9330513" cy="12390370"/>
            <a:chOff x="10867175" y="2502222"/>
            <a:chExt cx="9330513" cy="12390370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E5B5576-5A55-6995-8D19-23571C91E10C}"/>
                </a:ext>
              </a:extLst>
            </p:cNvPr>
            <p:cNvSpPr txBox="1"/>
            <p:nvPr/>
          </p:nvSpPr>
          <p:spPr>
            <a:xfrm>
              <a:off x="10867175" y="2502222"/>
              <a:ext cx="9330513" cy="45858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rgbClr val="1F4E7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Cross-validation and Model Selection</a:t>
              </a:r>
            </a:p>
            <a:p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Ridge: 5-fold CV over α = [0.01, 0.1, 1, 10, 100]</a:t>
              </a:r>
            </a:p>
            <a:p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Best α: 0.01 with geo, 10 without geo</a:t>
              </a:r>
            </a:p>
            <a:p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Ridge CV MSE was nearly flat across α values</a:t>
              </a:r>
            </a:p>
            <a:p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NN: 5-fold CV over hidden sizes:</a:t>
              </a:r>
            </a:p>
            <a:p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(16,8), (32,16), (64,32), (128,64)</a:t>
              </a:r>
            </a:p>
            <a:p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Best NN: (64,32) with geo, (128,64) without geo</a:t>
              </a:r>
              <a:endParaRPr lang="zh-CN" altLang="en-US" sz="3600" dirty="0">
                <a:latin typeface="Calibri" panose="020F0502020204030204" pitchFamily="34" charset="0"/>
                <a:ea typeface="Arial Unicode MS" panose="020B0604020202020204" pitchFamily="34" charset="-122"/>
                <a:cs typeface="Calibri" panose="020F0502020204030204" pitchFamily="34" charset="0"/>
              </a:endParaRPr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0190DE8C-CCF6-B596-3128-4BA3B4833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63137" y="8093702"/>
              <a:ext cx="9070007" cy="679889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E18714B-8C10-3D43-BD97-1CB38E3C6F11}"/>
              </a:ext>
            </a:extLst>
          </p:cNvPr>
          <p:cNvGrpSpPr/>
          <p:nvPr/>
        </p:nvGrpSpPr>
        <p:grpSpPr>
          <a:xfrm>
            <a:off x="20193924" y="2353062"/>
            <a:ext cx="9981276" cy="13294360"/>
            <a:chOff x="20123561" y="2464592"/>
            <a:chExt cx="9981276" cy="13294360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34D3A9D-711B-DD84-EDD8-A312EEA41893}"/>
                </a:ext>
              </a:extLst>
            </p:cNvPr>
            <p:cNvSpPr txBox="1"/>
            <p:nvPr/>
          </p:nvSpPr>
          <p:spPr>
            <a:xfrm>
              <a:off x="20123561" y="9941975"/>
              <a:ext cx="9981276" cy="58169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altLang="zh-CN" sz="4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altLang="zh-CN" sz="4000" b="1" dirty="0">
                  <a:solidFill>
                    <a:srgbClr val="1F4E7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Conclusions</a:t>
              </a:r>
            </a:p>
            <a:p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Best model: NN with all features</a:t>
              </a:r>
            </a:p>
            <a:p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Removing latitude/longitude reduced performance</a:t>
              </a:r>
            </a:p>
            <a:p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Geographic features are important for housing prediction</a:t>
              </a:r>
            </a:p>
            <a:p>
              <a:endPara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altLang="zh-CN" sz="4000" b="1" dirty="0">
                  <a:solidFill>
                    <a:srgbClr val="1F4E7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Future Work</a:t>
              </a:r>
            </a:p>
            <a:p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Compare with tree-based models</a:t>
              </a:r>
            </a:p>
            <a:p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Tune more NN hyperparameters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F760DE7-BA1F-8342-8BA6-4EA7EAA79D47}"/>
                </a:ext>
              </a:extLst>
            </p:cNvPr>
            <p:cNvSpPr txBox="1"/>
            <p:nvPr/>
          </p:nvSpPr>
          <p:spPr>
            <a:xfrm>
              <a:off x="20123561" y="2464592"/>
              <a:ext cx="9638683" cy="116647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rgbClr val="1F4E7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 Comparison Results</a:t>
              </a:r>
            </a:p>
            <a:p>
              <a:endParaRPr lang="en-US" altLang="zh-CN" sz="4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altLang="zh-CN" sz="4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altLang="zh-CN" sz="4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altLang="zh-CN" sz="4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altLang="zh-CN" sz="4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altLang="zh-CN" sz="4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altLang="zh-CN" sz="4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Best Test Results:</a:t>
              </a:r>
            </a:p>
            <a:p>
              <a:pPr lvl="1"/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Best model: NN with all features</a:t>
              </a:r>
              <a:b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Test MSE = </a:t>
              </a:r>
              <a:r>
                <a:rPr lang="en-US" altLang="zh-CN" sz="3600" dirty="0">
                  <a:solidFill>
                    <a:srgbClr val="F28C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0.2686</a:t>
              </a:r>
              <a:b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Test R² = </a:t>
              </a:r>
              <a:r>
                <a:rPr lang="en-US" altLang="zh-CN" sz="3600" dirty="0">
                  <a:solidFill>
                    <a:srgbClr val="F28C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0.7950</a:t>
              </a:r>
              <a:b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• Ridge baseline: MSE = </a:t>
              </a:r>
              <a:r>
                <a:rPr lang="en-US" altLang="zh-CN" sz="3600" dirty="0">
                  <a:solidFill>
                    <a:srgbClr val="F28C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0.5559</a:t>
              </a:r>
              <a:r>
                <a:rPr lang="en-US" altLang="zh-CN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R² = </a:t>
              </a:r>
              <a:r>
                <a:rPr lang="en-US" altLang="zh-CN" sz="3600" dirty="0">
                  <a:solidFill>
                    <a:srgbClr val="F28C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0.6126</a:t>
              </a:r>
              <a:endParaRPr lang="en-US" altLang="zh-CN" sz="36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zh-CN" altLang="en-US" sz="3600" b="1" dirty="0">
                <a:latin typeface="Calibri" panose="020F0502020204030204" pitchFamily="34" charset="0"/>
                <a:ea typeface="Arial Unicode MS" panose="020B0604020202020204" pitchFamily="34" charset="-122"/>
                <a:cs typeface="Calibri" panose="020F0502020204030204" pitchFamily="34" charset="0"/>
              </a:endParaRP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BF495AFA-0E6C-4085-1463-2D5F569BC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87159" y="3162667"/>
              <a:ext cx="5046382" cy="401396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B33519B0-3568-89C5-7B09-C567ABD0A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76935" y="3205236"/>
              <a:ext cx="5046382" cy="4013965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B6681F77-F946-7674-2369-92A77DD1A584}"/>
              </a:ext>
            </a:extLst>
          </p:cNvPr>
          <p:cNvSpPr/>
          <p:nvPr/>
        </p:nvSpPr>
        <p:spPr>
          <a:xfrm>
            <a:off x="0" y="-1"/>
            <a:ext cx="10058400" cy="777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67B4573-1336-8B1B-7907-7362DB850198}"/>
              </a:ext>
            </a:extLst>
          </p:cNvPr>
          <p:cNvSpPr/>
          <p:nvPr/>
        </p:nvSpPr>
        <p:spPr>
          <a:xfrm>
            <a:off x="5610" y="7800777"/>
            <a:ext cx="10058400" cy="777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6681F77-F946-7674-2369-92A77DD1A584}"/>
              </a:ext>
            </a:extLst>
          </p:cNvPr>
          <p:cNvSpPr/>
          <p:nvPr/>
        </p:nvSpPr>
        <p:spPr>
          <a:xfrm>
            <a:off x="10058400" y="-1"/>
            <a:ext cx="10058400" cy="777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noFill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6681F77-F946-7674-2369-92A77DD1A584}"/>
              </a:ext>
            </a:extLst>
          </p:cNvPr>
          <p:cNvSpPr/>
          <p:nvPr/>
        </p:nvSpPr>
        <p:spPr>
          <a:xfrm>
            <a:off x="10014371" y="7765024"/>
            <a:ext cx="10058400" cy="777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noFill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6681F77-F946-7674-2369-92A77DD1A584}"/>
              </a:ext>
            </a:extLst>
          </p:cNvPr>
          <p:cNvSpPr/>
          <p:nvPr/>
        </p:nvSpPr>
        <p:spPr>
          <a:xfrm>
            <a:off x="20082117" y="-28379"/>
            <a:ext cx="10058400" cy="777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noFill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6681F77-F946-7674-2369-92A77DD1A584}"/>
              </a:ext>
            </a:extLst>
          </p:cNvPr>
          <p:cNvSpPr/>
          <p:nvPr/>
        </p:nvSpPr>
        <p:spPr>
          <a:xfrm>
            <a:off x="20116800" y="7786590"/>
            <a:ext cx="10058400" cy="777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33317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6D2C9-1F26-D0BE-13C6-48A7D59C3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3B1365-F614-73E0-3DE5-B68D1A1E6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171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2DF9E-0383-8605-773A-286DCE550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E763E0-596E-A9D3-5FD6-5473BEBC5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22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E9BB0D-0610-120B-9DB0-DFCBED12F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507539-7EE6-A466-8DBE-72679C32D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763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46D103-BD87-CB11-C800-D78488999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5D8112-2CC6-1C76-8148-9128FC56B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118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F13797-5E3D-4F82-3DF2-9294A012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CB5D95-66C3-A75B-93B4-A15AC2934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881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682</TotalTime>
  <Words>268</Words>
  <Application>Microsoft Office PowerPoint</Application>
  <PresentationFormat>自定义</PresentationFormat>
  <Paragraphs>40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Ruochen Li</dc:creator>
  <cp:lastModifiedBy>Ruochen Li</cp:lastModifiedBy>
  <cp:revision>2</cp:revision>
  <cp:lastPrinted>2026-06-01T10:09:20Z</cp:lastPrinted>
  <dcterms:created xsi:type="dcterms:W3CDTF">2026-06-01T08:41:52Z</dcterms:created>
  <dcterms:modified xsi:type="dcterms:W3CDTF">2026-06-01T20:04:52Z</dcterms:modified>
</cp:coreProperties>
</file>